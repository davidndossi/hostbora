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Income</c:v>
                </c:pt>
              </c:strCache>
            </c:strRef>
          </c:tx>
          <c:spPr>
            <a:solidFill>
              <a:srgbClr val="1C6E64"/>
            </a:solidFill>
          </c:spPr>
          <c:cat>
            <c:strRef>
              <c:f>Sheet1!$A$2:$A$7</c:f>
              <c:strCache>
                <c:ptCount val="6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  <c:pt idx="4">
                  <c:v>Jun</c:v>
                </c:pt>
                <c:pt idx="5">
                  <c:v>Jul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7.4</c:v>
                </c:pt>
                <c:pt idx="1">
                  <c:v>8.1</c:v>
                </c:pt>
                <c:pt idx="2">
                  <c:v>7.9</c:v>
                </c:pt>
                <c:pt idx="3">
                  <c:v>9.2</c:v>
                </c:pt>
                <c:pt idx="4">
                  <c:v>9.8</c:v>
                </c:pt>
                <c:pt idx="5">
                  <c:v>10.4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rgbClr val="F5A623"/>
            </a:solidFill>
          </c:spPr>
          <c:cat>
            <c:strRef>
              <c:f>Sheet1!$A$2:$A$7</c:f>
              <c:strCache>
                <c:ptCount val="6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  <c:pt idx="4">
                  <c:v>Jun</c:v>
                </c:pt>
                <c:pt idx="5">
                  <c:v>Jul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3.1</c:v>
                </c:pt>
                <c:pt idx="1">
                  <c:v>3.4</c:v>
                </c:pt>
                <c:pt idx="2">
                  <c:v>2.9</c:v>
                </c:pt>
                <c:pt idx="3">
                  <c:v>3.6</c:v>
                </c:pt>
                <c:pt idx="4">
                  <c:v>3.2</c:v>
                </c:pt>
                <c:pt idx="5">
                  <c:v>3.5</c:v>
                </c:pt>
              </c:numCache>
            </c:numRef>
          </c:val>
        </c:ser>
        <c:gapWidth val="62"/>
        <c:overlap val="-1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1000">
                <a:solidFill>
                  <a:srgbClr val="5C637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AEEEE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5C637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1B1F24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5C637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HostBora is a property management app built for landlords and property managers in Tanzania and East Africa. It handles both short-stay BnB hosting and long-term rentals in a single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pain the audience already recognises: payment proof in the phone gallery, conversations in WhatsApp, and arrears worked out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product around four repeating jobs rather than a long feature list. The band underneath states the three things that make it fit East Africa: dual workspaces, TZS-first money, and offline capture.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main structural difference from single-purpose tools: one portfolio, two operating modes. A landlord can run a guest house and a block of flats without buying two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toolkit at a glance. Payments is highlighted because it is the first thing new users adopt — everything else builds on a trustworthy money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Money is the reason landlords keep using the app. Stress mobile-money capture, then the payoff: per-property profitability instead of a single blended figure. The chart is illustrative, not live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Operations are where trust is won with owners and tenants. The point to land: the app produces proof of work, which is what an owner actually wants to see at month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Records are the least exciting feature and the most reassuring one. Tie it to real moments: a bank asking for a lease, or an auditor asking for receipts.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differentiating features. AI Manager turns the data the user already entered into answers; design tools help with vacant or tired units. Both sit on the Ultra 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buyer types. Note that owners and managers share one data model, which is what makes owner reporting possible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credibility gap. Offline capture and TZS-native money handling are the two things generic imports get wrong; security is the answer to the tenant-data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Planned rates in Tanzanian shillings; mobile money will be supported at billing. Finish on the free early-access offer and a single next step: download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03720" y="0"/>
            <a:ext cx="5287975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C6E64"/>
              </a:gs>
              <a:gs pos="100000">
                <a:srgbClr val="0D433D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58368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743955" y="753465"/>
            <a:ext cx="304312" cy="171175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769" y="905621"/>
            <a:ext cx="180685" cy="11411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722376"/>
            <a:ext cx="2926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 i="0">
                <a:solidFill>
                  <a:srgbClr val="145C54"/>
                </a:solidFill>
                <a:latin typeface="Arial"/>
              </a:rPr>
              <a:t>HostBora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3342132" cy="292608"/>
          </a:xfrm>
          <a:prstGeom prst="roundRect">
            <a:avLst>
              <a:gd name="adj" fmla="val 50000"/>
            </a:avLst>
          </a:prstGeom>
          <a:solidFill>
            <a:srgbClr val="FD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8A5D0B"/>
                </a:solidFill>
                <a:latin typeface="Arial"/>
              </a:rPr>
              <a:t>Early access · 200+ landlords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577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B1F24"/>
                </a:solidFill>
                <a:latin typeface="Arial"/>
              </a:rPr>
              <a:t>Property management that stays clear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84448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i="1">
                <a:solidFill>
                  <a:srgbClr val="145C54"/>
                </a:solidFill>
                <a:latin typeface="Arial"/>
              </a:rPr>
              <a:t>From guest nights to monthly rent.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114800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 i="0">
                <a:solidFill>
                  <a:srgbClr val="5C6370"/>
                </a:solidFill>
                <a:latin typeface="Arial"/>
              </a:rPr>
              <a:t>One trustworthy app for short-stay hosting and long-term rentals — bookings, tenants, payments, staff, expenses and reports.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349240"/>
            <a:ext cx="1700784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548640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>
                <a:solidFill>
                  <a:srgbClr val="1B1F24"/>
                </a:solidFill>
                <a:latin typeface="Arial"/>
              </a:rPr>
              <a:t>BnB + 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72414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Two workspaces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05456" y="5349240"/>
            <a:ext cx="1700784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0048" y="548640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>
                <a:solidFill>
                  <a:srgbClr val="1B1F24"/>
                </a:solidFill>
                <a:latin typeface="Arial"/>
              </a:rPr>
              <a:t>TZS-ready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572414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Local currency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2544" y="5349240"/>
            <a:ext cx="1700784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548640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>
                <a:solidFill>
                  <a:srgbClr val="1B1F24"/>
                </a:solidFill>
                <a:latin typeface="Arial"/>
              </a:rPr>
              <a:t>Offline-friendly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572414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Works on the go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81690" y="1051560"/>
            <a:ext cx="2329291" cy="4864608"/>
          </a:xfrm>
          <a:prstGeom prst="roundRect">
            <a:avLst>
              <a:gd name="adj" fmla="val 9000"/>
            </a:avLst>
          </a:prstGeom>
          <a:solidFill>
            <a:srgbClr val="1A1A1A"/>
          </a:solidFill>
          <a:ln>
            <a:noFill/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2" name="Picture 21" descr="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554" y="1106424"/>
            <a:ext cx="2219563" cy="4754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98079" y="60533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Android &amp; iOS  ·  App v1.2.3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HostBora  ·  hostbora.co.tz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0" i="0">
                <a:solidFill>
                  <a:srgbClr val="9CC2BB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C6E64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6126480" cy="700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B1F24"/>
                </a:solidFill>
                <a:latin typeface="Arial"/>
              </a:rPr>
              <a:t>Rent is being managed in screenshots and notebooks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41856"/>
            <a:ext cx="6126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C6370"/>
                </a:solidFill>
                <a:latin typeface="Arial"/>
              </a:rPr>
              <a:t>Most landlords track money across three or four disconnected places. Nothing reconciles, and nothing is easy to prove.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04288"/>
            <a:ext cx="5943600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450592"/>
            <a:ext cx="68580" cy="676656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487168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1B1F24"/>
                </a:solidFill>
                <a:latin typeface="Arial"/>
              </a:rPr>
              <a:t>M-Pesa screenshots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81635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Payment proof lives in a gallery, not in a ledger.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419856"/>
            <a:ext cx="5943600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566160"/>
            <a:ext cx="68580" cy="676656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602736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1B1F24"/>
                </a:solidFill>
                <a:latin typeface="Arial"/>
              </a:rPr>
              <a:t>WhatsApp threads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9319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Tenant promises and repair requests get buried.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535424"/>
            <a:ext cx="5943600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4681728"/>
            <a:ext cx="68580" cy="676656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4718304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1B1F24"/>
                </a:solidFill>
                <a:latin typeface="Arial"/>
              </a:rPr>
              <a:t>Handwritten notebooks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504748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Arrears and expenses are recalculated by hand.</a:t>
            </a:r>
          </a:p>
        </p:txBody>
      </p:sp>
      <p:pic>
        <p:nvPicPr>
          <p:cNvPr id="18" name="Picture 17" descr="home_1.png"/>
          <p:cNvPicPr>
            <a:picLocks noChangeAspect="1"/>
          </p:cNvPicPr>
          <p:nvPr/>
        </p:nvPicPr>
        <p:blipFill>
          <a:blip r:embed="rId2"/>
          <a:srcRect t="3908" b="3908"/>
          <a:stretch>
            <a:fillRect/>
          </a:stretch>
        </p:blipFill>
        <p:spPr>
          <a:xfrm>
            <a:off x="6967728" y="1417320"/>
            <a:ext cx="4562856" cy="4206240"/>
          </a:xfrm>
          <a:prstGeom prst="round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967728" y="4617720"/>
            <a:ext cx="4562856" cy="1005840"/>
          </a:xfrm>
          <a:prstGeom prst="roundRect">
            <a:avLst>
              <a:gd name="adj" fmla="val 6000"/>
            </a:avLst>
          </a:prstGeom>
          <a:solidFill>
            <a:srgbClr val="0D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42048" y="4773168"/>
            <a:ext cx="402336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HostBora replaces that chaos with one clear record per property.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HostBora  ·  hostbora.co.tz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8961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C6E64"/>
                </a:solidFill>
                <a:latin typeface="Arial"/>
              </a:rPr>
              <a:t>WHAT HOSTBORA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B1F24"/>
                </a:solidFill>
                <a:latin typeface="Arial"/>
              </a:rPr>
              <a:t>Four things, handled in one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99032"/>
            <a:ext cx="8778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C6370"/>
                </a:solidFill>
                <a:latin typeface="Arial"/>
              </a:rPr>
              <a:t>Income, operations, people and records — the same four jobs every landlord and manager repeats every month.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2512999" cy="21031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254203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Donut 7"/>
          <p:cNvSpPr/>
          <p:nvPr/>
        </p:nvSpPr>
        <p:spPr>
          <a:xfrm>
            <a:off x="1070579" y="2679923"/>
            <a:ext cx="199704" cy="199704"/>
          </a:xfrm>
          <a:prstGeom prst="donut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200400"/>
            <a:ext cx="1964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i="0">
                <a:solidFill>
                  <a:srgbClr val="1B1F24"/>
                </a:solidFill>
                <a:latin typeface="Arial"/>
              </a:rPr>
              <a:t>Income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547872"/>
            <a:ext cx="19643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Rent, bookings, deposits and every expense recorded in TZS.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5687" y="2286000"/>
            <a:ext cx="2512999" cy="21031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20007" y="254203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57899" y="2679923"/>
            <a:ext cx="199704" cy="199704"/>
          </a:xfrm>
          <a:prstGeom prst="ellipse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0007" y="3200400"/>
            <a:ext cx="1964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i="0">
                <a:solidFill>
                  <a:srgbClr val="1B1F24"/>
                </a:solidFill>
                <a:latin typeface="Arial"/>
              </a:rPr>
              <a:t>People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0007" y="3547872"/>
            <a:ext cx="19643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Tenants, guests and staff with clear roles and history.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286000"/>
            <a:ext cx="2512999" cy="21031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07327" y="254203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Sun 17"/>
          <p:cNvSpPr/>
          <p:nvPr/>
        </p:nvSpPr>
        <p:spPr>
          <a:xfrm>
            <a:off x="6645219" y="2679923"/>
            <a:ext cx="199704" cy="199704"/>
          </a:xfrm>
          <a:prstGeom prst="sun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7327" y="3200400"/>
            <a:ext cx="1964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i="0">
                <a:solidFill>
                  <a:srgbClr val="1B1F24"/>
                </a:solidFill>
                <a:latin typeface="Arial"/>
              </a:rP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547872"/>
            <a:ext cx="19643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Tasks, reminders, cleaning, maintenance and check-ins.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0327" y="2286000"/>
            <a:ext cx="2512999" cy="21031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94647" y="254203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Document 22"/>
          <p:cNvSpPr/>
          <p:nvPr/>
        </p:nvSpPr>
        <p:spPr>
          <a:xfrm>
            <a:off x="9432538" y="2679923"/>
            <a:ext cx="199704" cy="199704"/>
          </a:xfrm>
          <a:prstGeom prst="flowChartDocument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4647" y="3200400"/>
            <a:ext cx="1964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i="0">
                <a:solidFill>
                  <a:srgbClr val="1B1F24"/>
                </a:solidFill>
                <a:latin typeface="Arial"/>
              </a:rPr>
              <a:t>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4647" y="3547872"/>
            <a:ext cx="19643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Leases, IDs, receipts and reports ready when needed.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36592"/>
            <a:ext cx="10874959" cy="141732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C6E64"/>
              </a:gs>
              <a:gs pos="100000">
                <a:srgbClr val="0D433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5029200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5486400"/>
            <a:ext cx="29849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 i="0">
                <a:solidFill>
                  <a:srgbClr val="D8E8E5"/>
                </a:solidFill>
                <a:latin typeface="Arial"/>
              </a:rPr>
              <a:t>workspaces — BnB and Rent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4834" y="5029200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TZS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4834" y="5486400"/>
            <a:ext cx="29849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 i="0">
                <a:solidFill>
                  <a:srgbClr val="D8E8E5"/>
                </a:solidFill>
                <a:latin typeface="Arial"/>
              </a:rPr>
              <a:t>first-class currency and mobile money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0786" y="5047488"/>
            <a:ext cx="10972" cy="822960"/>
          </a:xfrm>
          <a:prstGeom prst="roundRect">
            <a:avLst>
              <a:gd name="adj" fmla="val 0"/>
            </a:avLst>
          </a:prstGeom>
          <a:solidFill>
            <a:srgbClr val="3E8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9820" y="5029200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Offline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9820" y="5486400"/>
            <a:ext cx="29849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 i="0">
                <a:solidFill>
                  <a:srgbClr val="D8E8E5"/>
                </a:solidFill>
                <a:latin typeface="Arial"/>
              </a:rPr>
              <a:t>capture now, sync when back online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35772" y="5047488"/>
            <a:ext cx="10972" cy="822960"/>
          </a:xfrm>
          <a:prstGeom prst="roundRect">
            <a:avLst>
              <a:gd name="adj" fmla="val 0"/>
            </a:avLst>
          </a:prstGeom>
          <a:solidFill>
            <a:srgbClr val="3E8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HostBora  ·  hostbora.co.tz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8961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C6E64"/>
                </a:solidFill>
                <a:latin typeface="Arial"/>
              </a:rPr>
              <a:t>BNB + 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B1F24"/>
                </a:solidFill>
                <a:latin typeface="Arial"/>
              </a:rPr>
              <a:t>Two workspaces, one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99032"/>
            <a:ext cx="8778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C6370"/>
                </a:solidFill>
                <a:latin typeface="Arial"/>
              </a:rPr>
              <a:t>Switch whenever you need to — the same properties, with flows tuned to how that property earns.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5291175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C6E64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9264" y="254203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C6E64"/>
                </a:solidFill>
                <a:latin typeface="Arial"/>
              </a:rPr>
              <a:t>BnB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3017520"/>
            <a:ext cx="466938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 i="0">
                <a:solidFill>
                  <a:srgbClr val="1B1F24"/>
                </a:solidFill>
                <a:latin typeface="Arial"/>
              </a:rPr>
              <a:t>Short-stay hosting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3438144"/>
            <a:ext cx="466938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5C6370"/>
                </a:solidFill>
                <a:latin typeface="Arial"/>
              </a:rPr>
              <a:t>Nightly bookings, guest turnover, cleaning schedules and hospitality-style income. Ideal for furnished apartments, guest houses and holiday lets.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4407408"/>
            <a:ext cx="466938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150" b="1">
                <a:solidFill>
                  <a:srgbClr val="1C6E64"/>
                </a:solidFill>
                <a:latin typeface="Arial"/>
              </a:rPr>
              <a:t>▪  </a:t>
            </a:r>
            <a:r>
              <a:rPr sz="1150">
                <a:solidFill>
                  <a:srgbClr val="1B1F24"/>
                </a:solidFill>
                <a:latin typeface="Arial"/>
              </a:rPr>
              <a:t>Booking calendar with check-in and check-out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150" b="1">
                <a:solidFill>
                  <a:srgbClr val="1C6E64"/>
                </a:solidFill>
                <a:latin typeface="Arial"/>
              </a:rPr>
              <a:t>▪  </a:t>
            </a:r>
            <a:r>
              <a:rPr sz="1150">
                <a:solidFill>
                  <a:srgbClr val="1B1F24"/>
                </a:solidFill>
                <a:latin typeface="Arial"/>
              </a:rPr>
              <a:t>Guest payments and per-stay expenses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150" b="1">
                <a:solidFill>
                  <a:srgbClr val="1C6E64"/>
                </a:solidFill>
                <a:latin typeface="Arial"/>
              </a:rPr>
              <a:t>▪  </a:t>
            </a:r>
            <a:r>
              <a:rPr sz="1150">
                <a:solidFill>
                  <a:srgbClr val="1B1F24"/>
                </a:solidFill>
                <a:latin typeface="Arial"/>
              </a:rPr>
              <a:t>Operations tuned for fast turnover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2286000"/>
            <a:ext cx="5291175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5A623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53047" y="2542032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FD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8A5D0B"/>
                </a:solidFill>
                <a:latin typeface="Arial"/>
              </a:rPr>
              <a:t>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3017520"/>
            <a:ext cx="466938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 i="0">
                <a:solidFill>
                  <a:srgbClr val="1B1F24"/>
                </a:solidFill>
                <a:latin typeface="Arial"/>
              </a:rPr>
              <a:t>Long-term rentals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438144"/>
            <a:ext cx="466938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5C6370"/>
                </a:solidFill>
                <a:latin typeface="Arial"/>
              </a:rPr>
              <a:t>Monthly leases, tenant records, rent collection and building-level expenses. Built for landlords and managers with recurring income.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4407408"/>
            <a:ext cx="466938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150" b="1">
                <a:solidFill>
                  <a:srgbClr val="F5A623"/>
                </a:solidFill>
                <a:latin typeface="Arial"/>
              </a:rPr>
              <a:t>▪  </a:t>
            </a:r>
            <a:r>
              <a:rPr sz="1150">
                <a:solidFill>
                  <a:srgbClr val="1B1F24"/>
                </a:solidFill>
                <a:latin typeface="Arial"/>
              </a:rPr>
              <a:t>Tenants, units and lease tracking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150" b="1">
                <a:solidFill>
                  <a:srgbClr val="F5A623"/>
                </a:solidFill>
                <a:latin typeface="Arial"/>
              </a:rPr>
              <a:t>▪  </a:t>
            </a:r>
            <a:r>
              <a:rPr sz="1150">
                <a:solidFill>
                  <a:srgbClr val="1B1F24"/>
                </a:solidFill>
                <a:latin typeface="Arial"/>
              </a:rPr>
              <a:t>Rent payments and arrears visibility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150" b="1">
                <a:solidFill>
                  <a:srgbClr val="F5A623"/>
                </a:solidFill>
                <a:latin typeface="Arial"/>
              </a:rPr>
              <a:t>▪  </a:t>
            </a:r>
            <a:r>
              <a:rPr sz="1150">
                <a:solidFill>
                  <a:srgbClr val="1B1F24"/>
                </a:solidFill>
                <a:latin typeface="Arial"/>
              </a:rPr>
              <a:t>Staff, utilities and building 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HostBora  ·  hostbora.co.tz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8961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C6E64"/>
                </a:solidFill>
                <a:latin typeface="Arial"/>
              </a:rPr>
              <a:t>DAILY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B1F24"/>
                </a:solidFill>
                <a:latin typeface="Arial"/>
              </a:rPr>
              <a:t>Everything landlords and managers need daily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47088"/>
            <a:ext cx="3454298" cy="1298448"/>
          </a:xfrm>
          <a:prstGeom prst="roundRect">
            <a:avLst>
              <a:gd name="adj" fmla="val 7500"/>
            </a:avLst>
          </a:prstGeom>
          <a:solidFill>
            <a:srgbClr val="E7EFEE"/>
          </a:solidFill>
          <a:ln w="15875">
            <a:solidFill>
              <a:srgbClr val="1C6E64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029968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>
            <a:off x="983894" y="2136038"/>
            <a:ext cx="153619" cy="153619"/>
          </a:xfrm>
          <a:prstGeom prst="donut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5024" y="2084832"/>
            <a:ext cx="25581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1B1F24"/>
                </a:solidFill>
                <a:latin typeface="Arial"/>
              </a:rPr>
              <a:t>Payments &amp; expenses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505456"/>
            <a:ext cx="3015386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5C6370"/>
                </a:solidFill>
                <a:latin typeface="Arial"/>
              </a:rPr>
              <a:t>Record rent, guest income and costs in TZS — M-Pesa, Tigo Pesa, Airtel Money.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847088"/>
            <a:ext cx="3454298" cy="129844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88154" y="2029968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entagon 11"/>
          <p:cNvSpPr/>
          <p:nvPr/>
        </p:nvSpPr>
        <p:spPr>
          <a:xfrm>
            <a:off x="4694224" y="2136038"/>
            <a:ext cx="153619" cy="153619"/>
          </a:xfrm>
          <a:prstGeom prst="homePlate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5354" y="2084832"/>
            <a:ext cx="25581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1B1F24"/>
                </a:solidFill>
                <a:latin typeface="Arial"/>
              </a:rPr>
              <a:t>Rentals &amp; tenants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505456"/>
            <a:ext cx="3015386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5C6370"/>
                </a:solidFill>
                <a:latin typeface="Arial"/>
              </a:rPr>
              <a:t>List units, track leases and keep tenant details tidy across the portfolio.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9028" y="1847088"/>
            <a:ext cx="3454298" cy="129844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98484" y="2029968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04555" y="2136038"/>
            <a:ext cx="153619" cy="153619"/>
          </a:xfrm>
          <a:prstGeom prst="ellipse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55684" y="2084832"/>
            <a:ext cx="25581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1B1F24"/>
                </a:solidFill>
                <a:latin typeface="Arial"/>
              </a:rPr>
              <a:t>Staff &amp; 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8484" y="2505456"/>
            <a:ext cx="3015386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5C6370"/>
                </a:solidFill>
                <a:latin typeface="Arial"/>
              </a:rPr>
              <a:t>Assign cleaners, guards or maintenance with due dates and clear status.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364991"/>
            <a:ext cx="3454298" cy="129844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354787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Sun 21"/>
          <p:cNvSpPr/>
          <p:nvPr/>
        </p:nvSpPr>
        <p:spPr>
          <a:xfrm>
            <a:off x="983894" y="3653942"/>
            <a:ext cx="153619" cy="153619"/>
          </a:xfrm>
          <a:prstGeom prst="sun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35024" y="3602735"/>
            <a:ext cx="25581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1B1F24"/>
                </a:solidFill>
                <a:latin typeface="Arial"/>
              </a:rPr>
              <a:t>Reminders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23359"/>
            <a:ext cx="3015386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5C6370"/>
                </a:solidFill>
                <a:latin typeface="Arial"/>
              </a:rPr>
              <a:t>Stay ahead of renewals, check-ins, payment follow-ups and routine chores.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8698" y="3364991"/>
            <a:ext cx="3454298" cy="129844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88154" y="354787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Chevron 26"/>
          <p:cNvSpPr/>
          <p:nvPr/>
        </p:nvSpPr>
        <p:spPr>
          <a:xfrm>
            <a:off x="4694224" y="3653942"/>
            <a:ext cx="153619" cy="153619"/>
          </a:xfrm>
          <a:prstGeom prst="chevron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5354" y="3602735"/>
            <a:ext cx="25581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1B1F24"/>
                </a:solidFill>
                <a:latin typeface="Arial"/>
              </a:rPr>
              <a:t>BnB &amp; long-term rent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8154" y="4023359"/>
            <a:ext cx="3015386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5C6370"/>
                </a:solidFill>
                <a:latin typeface="Arial"/>
              </a:rPr>
              <a:t>Run nightly bookings and monthly leases from the same portfolio.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79028" y="3364991"/>
            <a:ext cx="3454298" cy="129844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98484" y="354787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Block Arc 31"/>
          <p:cNvSpPr/>
          <p:nvPr/>
        </p:nvSpPr>
        <p:spPr>
          <a:xfrm>
            <a:off x="8404555" y="3653942"/>
            <a:ext cx="153619" cy="153619"/>
          </a:xfrm>
          <a:prstGeom prst="blockArc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5684" y="3602735"/>
            <a:ext cx="25581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1B1F24"/>
                </a:solidFill>
                <a:latin typeface="Arial"/>
              </a:rPr>
              <a:t>Reports &amp; profitability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8484" y="4023359"/>
            <a:ext cx="3015386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5C6370"/>
                </a:solidFill>
                <a:latin typeface="Arial"/>
              </a:rPr>
              <a:t>See income against spend per property, with summaries you can act 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882896"/>
            <a:ext cx="3454298" cy="129844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77824" y="5065776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Hexagon 36"/>
          <p:cNvSpPr/>
          <p:nvPr/>
        </p:nvSpPr>
        <p:spPr>
          <a:xfrm>
            <a:off x="983894" y="5171846"/>
            <a:ext cx="153619" cy="153619"/>
          </a:xfrm>
          <a:prstGeom prst="hexagon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35024" y="5120640"/>
            <a:ext cx="25581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1B1F24"/>
                </a:solidFill>
                <a:latin typeface="Arial"/>
              </a:rPr>
              <a:t>Smart access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" y="5541264"/>
            <a:ext cx="3015386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5C6370"/>
                </a:solidFill>
                <a:latin typeface="Arial"/>
              </a:rPr>
              <a:t>Coordinate digital locks and guest entry — fewer handoffs at check-in.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68698" y="4882896"/>
            <a:ext cx="3454298" cy="129844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88154" y="5065776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Document 41"/>
          <p:cNvSpPr/>
          <p:nvPr/>
        </p:nvSpPr>
        <p:spPr>
          <a:xfrm>
            <a:off x="4694224" y="5171846"/>
            <a:ext cx="153619" cy="153619"/>
          </a:xfrm>
          <a:prstGeom prst="flowChartDocument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45354" y="5120640"/>
            <a:ext cx="25581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1B1F24"/>
                </a:solidFill>
                <a:latin typeface="Arial"/>
              </a:rPr>
              <a:t>Document vault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8154" y="5541264"/>
            <a:ext cx="3015386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5C6370"/>
                </a:solidFill>
                <a:latin typeface="Arial"/>
              </a:rPr>
              <a:t>Keep leases, IDs, manuals and tax records in clearly named folders.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79028" y="4882896"/>
            <a:ext cx="3454298" cy="129844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98484" y="5065776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Frame 46"/>
          <p:cNvSpPr/>
          <p:nvPr/>
        </p:nvSpPr>
        <p:spPr>
          <a:xfrm>
            <a:off x="8404555" y="5171846"/>
            <a:ext cx="153619" cy="153619"/>
          </a:xfrm>
          <a:prstGeom prst="frame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55684" y="5120640"/>
            <a:ext cx="25581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1B1F24"/>
                </a:solidFill>
                <a:latin typeface="Arial"/>
              </a:rPr>
              <a:t>Calendar sync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98484" y="5541264"/>
            <a:ext cx="3015386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5C6370"/>
                </a:solidFill>
                <a:latin typeface="Arial"/>
              </a:rPr>
              <a:t>Link external calendars to cut double bookings and align blocked dates.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HostBora  ·  hostbora.co.tz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C6E64"/>
                </a:solidFill>
                <a:latin typeface="Arial"/>
              </a:rPr>
              <a:t>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B1F24"/>
                </a:solidFill>
                <a:latin typeface="Arial"/>
              </a:rPr>
              <a:t>Payments, expenses and profitability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99032"/>
            <a:ext cx="67665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C6370"/>
                </a:solidFill>
                <a:latin typeface="Arial"/>
              </a:rPr>
              <a:t>Record income the way it actually arrives, then see what each property really earns.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86000"/>
            <a:ext cx="4206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4000"/>
              </a:lnSpc>
              <a:spcAft>
                <a:spcPts val="900"/>
              </a:spcAft>
            </a:pPr>
            <a:r>
              <a:rPr sz="1150" b="1">
                <a:solidFill>
                  <a:srgbClr val="1C6E64"/>
                </a:solidFill>
                <a:latin typeface="Arial"/>
              </a:rPr>
              <a:t>▪  </a:t>
            </a:r>
            <a:r>
              <a:rPr sz="1150">
                <a:solidFill>
                  <a:srgbClr val="1B1F24"/>
                </a:solidFill>
                <a:latin typeface="Arial"/>
              </a:rPr>
              <a:t>Mobile money first — M-Pesa, Tigo Pesa, Airtel Money</a:t>
            </a:r>
          </a:p>
          <a:p>
            <a:pPr>
              <a:lnSpc>
                <a:spcPct val="124000"/>
              </a:lnSpc>
              <a:spcAft>
                <a:spcPts val="900"/>
              </a:spcAft>
            </a:pPr>
            <a:r>
              <a:rPr sz="1150" b="1">
                <a:solidFill>
                  <a:srgbClr val="1C6E64"/>
                </a:solidFill>
                <a:latin typeface="Arial"/>
              </a:rPr>
              <a:t>▪  </a:t>
            </a:r>
            <a:r>
              <a:rPr sz="1150">
                <a:solidFill>
                  <a:srgbClr val="1B1F24"/>
                </a:solidFill>
                <a:latin typeface="Arial"/>
              </a:rPr>
              <a:t>Rent and guest income in one ledger, priced in TZS</a:t>
            </a:r>
          </a:p>
          <a:p>
            <a:pPr>
              <a:lnSpc>
                <a:spcPct val="124000"/>
              </a:lnSpc>
              <a:spcAft>
                <a:spcPts val="900"/>
              </a:spcAft>
            </a:pPr>
            <a:r>
              <a:rPr sz="1150" b="1">
                <a:solidFill>
                  <a:srgbClr val="1C6E64"/>
                </a:solidFill>
                <a:latin typeface="Arial"/>
              </a:rPr>
              <a:t>▪  </a:t>
            </a:r>
            <a:r>
              <a:rPr sz="1150">
                <a:solidFill>
                  <a:srgbClr val="1B1F24"/>
                </a:solidFill>
                <a:latin typeface="Arial"/>
              </a:rPr>
              <a:t>Log expenses against the property that incurred them</a:t>
            </a:r>
          </a:p>
          <a:p>
            <a:pPr>
              <a:lnSpc>
                <a:spcPct val="124000"/>
              </a:lnSpc>
              <a:spcAft>
                <a:spcPts val="900"/>
              </a:spcAft>
            </a:pPr>
            <a:r>
              <a:rPr sz="1150" b="1">
                <a:solidFill>
                  <a:srgbClr val="1C6E64"/>
                </a:solidFill>
                <a:latin typeface="Arial"/>
              </a:rPr>
              <a:t>▪  </a:t>
            </a:r>
            <a:r>
              <a:rPr sz="1150">
                <a:solidFill>
                  <a:srgbClr val="1B1F24"/>
                </a:solidFill>
                <a:latin typeface="Arial"/>
              </a:rPr>
              <a:t>Arrears and outstanding balances stay visible</a:t>
            </a:r>
          </a:p>
          <a:p>
            <a:pPr>
              <a:lnSpc>
                <a:spcPct val="124000"/>
              </a:lnSpc>
              <a:spcAft>
                <a:spcPts val="900"/>
              </a:spcAft>
            </a:pPr>
            <a:r>
              <a:rPr sz="1150" b="1">
                <a:solidFill>
                  <a:srgbClr val="1C6E64"/>
                </a:solidFill>
                <a:latin typeface="Arial"/>
              </a:rPr>
              <a:t>▪  </a:t>
            </a:r>
            <a:r>
              <a:rPr sz="1150">
                <a:solidFill>
                  <a:srgbClr val="1B1F24"/>
                </a:solidFill>
                <a:latin typeface="Arial"/>
              </a:rPr>
              <a:t>Reports that summarise income against spend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526280"/>
            <a:ext cx="4206240" cy="1298448"/>
          </a:xfrm>
          <a:prstGeom prst="roundRect">
            <a:avLst>
              <a:gd name="adj" fmla="val 8000"/>
            </a:avLst>
          </a:prstGeom>
          <a:solidFill>
            <a:srgbClr val="E7EFEE"/>
          </a:solidFill>
          <a:ln w="12700">
            <a:solidFill>
              <a:srgbClr val="1C6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73659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45C54"/>
                </a:solidFill>
                <a:latin typeface="Arial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50292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B1F24"/>
                </a:solidFill>
                <a:latin typeface="Arial"/>
              </a:rPr>
              <a:t>A verifiable money trail — every shilling traced to a property, a tenant and a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30368" y="2084831"/>
            <a:ext cx="630936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233172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1B1F24"/>
                </a:solidFill>
                <a:latin typeface="Arial"/>
              </a:rPr>
              <a:t>Income vs expenses per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2615184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5C6370"/>
                </a:solidFill>
                <a:latin typeface="Arial"/>
              </a:rPr>
              <a:t>Illustrative portfolio view, TZS millions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440680" y="2926080"/>
          <a:ext cx="589788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HostBora  ·  hostbora.co.tz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8961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C6E64"/>
                </a:solidFill>
                <a:latin typeface="Arial"/>
              </a:rPr>
              <a:t>PEOPLE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B1F24"/>
                </a:solidFill>
                <a:latin typeface="Arial"/>
              </a:rPr>
              <a:t>Tenants, staff and everyday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2447544" cy="23317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213969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Pentagon 6"/>
          <p:cNvSpPr/>
          <p:nvPr/>
        </p:nvSpPr>
        <p:spPr>
          <a:xfrm>
            <a:off x="1018092" y="2261676"/>
            <a:ext cx="176662" cy="176662"/>
          </a:xfrm>
          <a:prstGeom prst="homePlate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706624"/>
            <a:ext cx="1972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1B1F24"/>
                </a:solidFill>
                <a:latin typeface="Arial"/>
              </a:rPr>
              <a:t>Tenants &amp; guests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90672"/>
            <a:ext cx="197205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050" b="1">
                <a:solidFill>
                  <a:srgbClr val="1C6E64"/>
                </a:solidFill>
                <a:latin typeface="Arial"/>
              </a:rPr>
              <a:t>▪  </a:t>
            </a:r>
            <a:r>
              <a:rPr sz="1050">
                <a:solidFill>
                  <a:srgbClr val="5C6370"/>
                </a:solidFill>
                <a:latin typeface="Arial"/>
              </a:rPr>
              <a:t>Units, leases, renewal dates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050" b="1">
                <a:solidFill>
                  <a:srgbClr val="1C6E64"/>
                </a:solidFill>
                <a:latin typeface="Arial"/>
              </a:rPr>
              <a:t>▪  </a:t>
            </a:r>
            <a:r>
              <a:rPr sz="1050">
                <a:solidFill>
                  <a:srgbClr val="5C6370"/>
                </a:solidFill>
                <a:latin typeface="Arial"/>
              </a:rPr>
              <a:t>Contacts and payment history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050" b="1">
                <a:solidFill>
                  <a:srgbClr val="1C6E64"/>
                </a:solidFill>
                <a:latin typeface="Arial"/>
              </a:rPr>
              <a:t>▪  </a:t>
            </a:r>
            <a:r>
              <a:rPr sz="1050">
                <a:solidFill>
                  <a:srgbClr val="5C6370"/>
                </a:solidFill>
                <a:latin typeface="Arial"/>
              </a:rPr>
              <a:t>Residency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3656" y="1920240"/>
            <a:ext cx="2447544" cy="23317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81400" y="213969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03380" y="2261676"/>
            <a:ext cx="176662" cy="176662"/>
          </a:xfrm>
          <a:prstGeom prst="ellipse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1400" y="2706624"/>
            <a:ext cx="1972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1B1F24"/>
                </a:solidFill>
                <a:latin typeface="Arial"/>
              </a:rPr>
              <a:t>Staff &amp;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1400" y="3090672"/>
            <a:ext cx="197205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050" b="1">
                <a:solidFill>
                  <a:srgbClr val="1C6E64"/>
                </a:solidFill>
                <a:latin typeface="Arial"/>
              </a:rPr>
              <a:t>▪  </a:t>
            </a:r>
            <a:r>
              <a:rPr sz="1050">
                <a:solidFill>
                  <a:srgbClr val="5C6370"/>
                </a:solidFill>
                <a:latin typeface="Arial"/>
              </a:rPr>
              <a:t>Cleaners, guards, maintenance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050" b="1">
                <a:solidFill>
                  <a:srgbClr val="1C6E64"/>
                </a:solidFill>
                <a:latin typeface="Arial"/>
              </a:rPr>
              <a:t>▪  </a:t>
            </a:r>
            <a:r>
              <a:rPr sz="1050">
                <a:solidFill>
                  <a:srgbClr val="5C6370"/>
                </a:solidFill>
                <a:latin typeface="Arial"/>
              </a:rPr>
              <a:t>Assign work with due dates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050" b="1">
                <a:solidFill>
                  <a:srgbClr val="1C6E64"/>
                </a:solidFill>
                <a:latin typeface="Arial"/>
              </a:rPr>
              <a:t>▪  </a:t>
            </a:r>
            <a:r>
              <a:rPr sz="1050">
                <a:solidFill>
                  <a:srgbClr val="5C6370"/>
                </a:solidFill>
                <a:latin typeface="Arial"/>
              </a:rPr>
              <a:t>Status you can follow 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28944" y="1920240"/>
            <a:ext cx="2447544" cy="23317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6688" y="213969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Sun 16"/>
          <p:cNvSpPr/>
          <p:nvPr/>
        </p:nvSpPr>
        <p:spPr>
          <a:xfrm>
            <a:off x="6388668" y="2261676"/>
            <a:ext cx="176662" cy="176662"/>
          </a:xfrm>
          <a:prstGeom prst="sun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6688" y="2706624"/>
            <a:ext cx="1972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1B1F24"/>
                </a:solidFill>
                <a:latin typeface="Arial"/>
              </a:rPr>
              <a:t>Reminders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6688" y="3090672"/>
            <a:ext cx="197205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050" b="1">
                <a:solidFill>
                  <a:srgbClr val="1C6E64"/>
                </a:solidFill>
                <a:latin typeface="Arial"/>
              </a:rPr>
              <a:t>▪  </a:t>
            </a:r>
            <a:r>
              <a:rPr sz="1050">
                <a:solidFill>
                  <a:srgbClr val="5C6370"/>
                </a:solidFill>
                <a:latin typeface="Arial"/>
              </a:rPr>
              <a:t>Lease renewals, check-ins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050" b="1">
                <a:solidFill>
                  <a:srgbClr val="1C6E64"/>
                </a:solidFill>
                <a:latin typeface="Arial"/>
              </a:rPr>
              <a:t>▪  </a:t>
            </a:r>
            <a:r>
              <a:rPr sz="1050">
                <a:solidFill>
                  <a:srgbClr val="5C6370"/>
                </a:solidFill>
                <a:latin typeface="Arial"/>
              </a:rPr>
              <a:t>Payment follow-ups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050" b="1">
                <a:solidFill>
                  <a:srgbClr val="1C6E64"/>
                </a:solidFill>
                <a:latin typeface="Arial"/>
              </a:rPr>
              <a:t>▪  </a:t>
            </a:r>
            <a:r>
              <a:rPr sz="1050">
                <a:solidFill>
                  <a:srgbClr val="5C6370"/>
                </a:solidFill>
                <a:latin typeface="Arial"/>
              </a:rPr>
              <a:t>Recurring chores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553712"/>
            <a:ext cx="7818120" cy="1005840"/>
          </a:xfrm>
          <a:prstGeom prst="roundRect">
            <a:avLst>
              <a:gd name="adj" fmla="val 7000"/>
            </a:avLst>
          </a:prstGeom>
          <a:solidFill>
            <a:srgbClr val="E7EFEE"/>
          </a:solidFill>
          <a:ln w="12700">
            <a:solidFill>
              <a:srgbClr val="1C6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4718304"/>
            <a:ext cx="723290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i="0">
                <a:solidFill>
                  <a:srgbClr val="145C54"/>
                </a:solidFill>
                <a:latin typeface="Arial"/>
              </a:rPr>
              <a:t>Every chase, repair and renewal leaves a record — so owners can see the work, not just the outcome.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31464" y="1847088"/>
            <a:ext cx="2021967" cy="4206240"/>
          </a:xfrm>
          <a:prstGeom prst="roundRect">
            <a:avLst>
              <a:gd name="adj" fmla="val 9000"/>
            </a:avLst>
          </a:prstGeom>
          <a:solidFill>
            <a:srgbClr val="1A1A1A"/>
          </a:solidFill>
          <a:ln>
            <a:noFill/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328" y="1901952"/>
            <a:ext cx="1912239" cy="40965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HostBora  ·  hostbora.co.tz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8961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C6E64"/>
                </a:solidFill>
                <a:latin typeface="Arial"/>
              </a:rPr>
              <a:t>RECORDS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B1F24"/>
                </a:solidFill>
                <a:latin typeface="Arial"/>
              </a:rPr>
              <a:t>Paperwork and entry, without the hunt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3442106" cy="2286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17627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ocument 6"/>
          <p:cNvSpPr/>
          <p:nvPr/>
        </p:nvSpPr>
        <p:spPr>
          <a:xfrm>
            <a:off x="1070579" y="2314163"/>
            <a:ext cx="199704" cy="199704"/>
          </a:xfrm>
          <a:prstGeom prst="flowChartDocument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98064"/>
            <a:ext cx="28934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B1F24"/>
                </a:solidFill>
                <a:latin typeface="Arial"/>
              </a:rPr>
              <a:t>Document vault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163824"/>
            <a:ext cx="289346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Leases, IDs, manuals, receipts and tax records in clearly named folders — per property, ready when an agent, auditor or bank asks.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4794" y="1920240"/>
            <a:ext cx="3442106" cy="2286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49114" y="217627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4787005" y="2314163"/>
            <a:ext cx="199704" cy="199704"/>
          </a:xfrm>
          <a:prstGeom prst="hexagon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9114" y="2798064"/>
            <a:ext cx="28934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B1F24"/>
                </a:solidFill>
                <a:latin typeface="Arial"/>
              </a:rPr>
              <a:t>Smart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9114" y="3163824"/>
            <a:ext cx="289346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Coordinate digital locks and guest entry where supported, so check-in does not depend on someone handing over a key.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1220" y="1920240"/>
            <a:ext cx="3442106" cy="2286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5540" y="217627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Frame 16"/>
          <p:cNvSpPr/>
          <p:nvPr/>
        </p:nvSpPr>
        <p:spPr>
          <a:xfrm>
            <a:off x="8503432" y="2314163"/>
            <a:ext cx="199704" cy="199704"/>
          </a:xfrm>
          <a:prstGeom prst="frame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5540" y="2798064"/>
            <a:ext cx="28934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B1F24"/>
                </a:solidFill>
                <a:latin typeface="Arial"/>
              </a:rPr>
              <a:t>Calendar 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5540" y="3163824"/>
            <a:ext cx="289346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Link external booking calendars to reduce double bookings and keep blocked dates aligned across channels.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443984"/>
            <a:ext cx="10874959" cy="141732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C6E64"/>
              </a:gs>
              <a:gs pos="100000">
                <a:srgbClr val="0D433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4645152"/>
            <a:ext cx="512064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FFFFFF"/>
                </a:solidFill>
                <a:latin typeface="Arial"/>
              </a:rPr>
              <a:t>One folder per property. Nothing lives only on someone's phone.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82803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Leases &amp; IDs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0235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C5DDD8"/>
                </a:solidFill>
                <a:latin typeface="Arial"/>
              </a:rPr>
              <a:t>named per unit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482803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Receipts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510235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C5DDD8"/>
                </a:solidFill>
                <a:latin typeface="Arial"/>
              </a:rPr>
              <a:t>matched to expenses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0416" y="4846320"/>
            <a:ext cx="10972" cy="566928"/>
          </a:xfrm>
          <a:prstGeom prst="roundRect">
            <a:avLst>
              <a:gd name="adj" fmla="val 0"/>
            </a:avLst>
          </a:prstGeom>
          <a:solidFill>
            <a:srgbClr val="3E8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12096" y="482803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Tax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12096" y="510235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C5DDD8"/>
                </a:solidFill>
                <a:latin typeface="Arial"/>
              </a:rPr>
              <a:t>ready at year end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56064" y="4846320"/>
            <a:ext cx="10972" cy="566928"/>
          </a:xfrm>
          <a:prstGeom prst="roundRect">
            <a:avLst>
              <a:gd name="adj" fmla="val 0"/>
            </a:avLst>
          </a:prstGeom>
          <a:solidFill>
            <a:srgbClr val="3E8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HostBora  ·  hostbora.co.tz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C6E64"/>
                </a:solidFill>
                <a:latin typeface="Arial"/>
              </a:rPr>
              <a:t>ASSISTANCE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B1F24"/>
                </a:solidFill>
                <a:latin typeface="Arial"/>
              </a:rPr>
              <a:t>AI Manager and design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99032"/>
            <a:ext cx="53949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C6370"/>
                </a:solidFill>
                <a:latin typeface="Arial"/>
              </a:rPr>
              <a:t>Ask questions about the portfolio in plain language, and help owners picture what a unit could become.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31720"/>
            <a:ext cx="493776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514600"/>
            <a:ext cx="68580" cy="749808"/>
          </a:xfrm>
          <a:prstGeom prst="roundRect">
            <a:avLst>
              <a:gd name="adj" fmla="val 50000"/>
            </a:avLst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551176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B1F24"/>
                </a:solidFill>
                <a:latin typeface="Arial"/>
              </a:rPr>
              <a:t>AI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88036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Ask about occupancy, arrears, income this month or leases expiring — answered from your own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630168"/>
            <a:ext cx="493776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68580" cy="749808"/>
          </a:xfrm>
          <a:prstGeom prst="roundRect">
            <a:avLst>
              <a:gd name="adj" fmla="val 50000"/>
            </a:avLst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849624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B1F24"/>
                </a:solidFill>
                <a:latin typeface="Arial"/>
              </a:rPr>
              <a:t>AI interior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4178807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Upload a photo of a room and generate styled concepts to guide refurbishment and listing photos.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02920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DF1DD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193792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</a:pPr>
            <a:r>
              <a:rPr sz="1100" b="1" i="0">
                <a:solidFill>
                  <a:srgbClr val="8A5D0B"/>
                </a:solidFill>
                <a:latin typeface="Arial"/>
              </a:rPr>
              <a:t>Available on the Ultra plan, alongside smart locks and entry logs.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70496" y="1572768"/>
            <a:ext cx="2115871" cy="4407408"/>
          </a:xfrm>
          <a:prstGeom prst="roundRect">
            <a:avLst>
              <a:gd name="adj" fmla="val 9000"/>
            </a:avLst>
          </a:prstGeom>
          <a:solidFill>
            <a:srgbClr val="1A1A1A"/>
          </a:solidFill>
          <a:ln>
            <a:noFill/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360" y="1627632"/>
            <a:ext cx="2006143" cy="42976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384512" y="1572768"/>
            <a:ext cx="2115871" cy="4407408"/>
          </a:xfrm>
          <a:prstGeom prst="roundRect">
            <a:avLst>
              <a:gd name="adj" fmla="val 9000"/>
            </a:avLst>
          </a:prstGeom>
          <a:solidFill>
            <a:srgbClr val="1A1A1A"/>
          </a:solidFill>
          <a:ln>
            <a:noFill/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desig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9376" y="1627632"/>
            <a:ext cx="2006143" cy="42976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HostBora  ·  hostbora.co.tz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8961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C6E64"/>
                </a:solidFill>
                <a:latin typeface="Arial"/>
              </a:rPr>
              <a:t>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B1F24"/>
                </a:solidFill>
                <a:latin typeface="Arial"/>
              </a:rPr>
              <a:t>Made for people who run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99032"/>
            <a:ext cx="8778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C6370"/>
                </a:solidFill>
                <a:latin typeface="Arial"/>
              </a:rPr>
              <a:t>Whether you own one unit or manage a growing portfolio across Dar, Arusha or beyond.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04288"/>
            <a:ext cx="3442106" cy="239572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23389" y="2615184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entagon 7"/>
          <p:cNvSpPr/>
          <p:nvPr/>
        </p:nvSpPr>
        <p:spPr>
          <a:xfrm>
            <a:off x="2271887" y="2763682"/>
            <a:ext cx="215066" cy="215066"/>
          </a:xfrm>
          <a:prstGeom prst="homePlate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310128"/>
            <a:ext cx="28934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450" b="1" i="0">
                <a:solidFill>
                  <a:srgbClr val="1B1F24"/>
                </a:solidFill>
                <a:latin typeface="Arial"/>
              </a:rPr>
              <a:t>Landlords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675887"/>
            <a:ext cx="282031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Own apartments, houses or blocks. See rent collected, vacancies and cost per unit without juggling notebooks.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4794" y="2304288"/>
            <a:ext cx="3442106" cy="239572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39815" y="2615184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88314" y="2763682"/>
            <a:ext cx="215066" cy="215066"/>
          </a:xfrm>
          <a:prstGeom prst="ellipse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9114" y="3310128"/>
            <a:ext cx="28934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450" b="1" i="0">
                <a:solidFill>
                  <a:srgbClr val="1B1F24"/>
                </a:solidFill>
                <a:latin typeface="Arial"/>
              </a:rPr>
              <a:t>Property managers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5690" y="3675887"/>
            <a:ext cx="282031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Oversee multiple owners or buildings with staff workflows, expenses and reports your clients can trust.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1220" y="2304288"/>
            <a:ext cx="3442106" cy="239572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56242" y="2615184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7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9704740" y="2763682"/>
            <a:ext cx="215066" cy="215066"/>
          </a:xfrm>
          <a:prstGeom prst="chevron">
            <a:avLst/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5540" y="3310128"/>
            <a:ext cx="28934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450" b="1" i="0">
                <a:solidFill>
                  <a:srgbClr val="1B1F24"/>
                </a:solidFill>
                <a:latin typeface="Arial"/>
              </a:rPr>
              <a:t>Hosts &amp; operators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2116" y="3675887"/>
            <a:ext cx="282031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Run BnB or mixed portfolios — boutique stays to serviced apartments — with bookings and operations in sync.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029200"/>
            <a:ext cx="10874959" cy="9144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C6E64"/>
              </a:gs>
              <a:gs pos="100000">
                <a:srgbClr val="0D433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193792"/>
            <a:ext cx="10143439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Same properties, same records — whether you manage them yourself or someone manages them for you.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HostBora  ·  hostbora.co.tz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C6E64"/>
                </a:solidFill>
                <a:latin typeface="Arial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B1F24"/>
                </a:solidFill>
                <a:latin typeface="Arial"/>
              </a:rPr>
              <a:t>Built for how you work in East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99032"/>
            <a:ext cx="67665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C6370"/>
                </a:solidFill>
                <a:latin typeface="Arial"/>
              </a:rPr>
              <a:t>Professional, dependable and respectful of local realities — not a generic import.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68580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57860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33472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487168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B1F24"/>
                </a:solidFill>
                <a:latin typeface="Arial"/>
              </a:rPr>
              <a:t>Works offline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798064"/>
            <a:ext cx="5669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Keep recording payments, notes and tasks when connectivity dips — everything syncs when you are back online.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529584"/>
            <a:ext cx="68580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82219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77056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730752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B1F24"/>
                </a:solidFill>
                <a:latin typeface="Arial"/>
              </a:rPr>
              <a:t>TZS-friendly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4041648"/>
            <a:ext cx="5669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Think in Tanzanian shillings and the mobile money you already use, not a foreign-currency mindset.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73168"/>
            <a:ext cx="68580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506577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20640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974336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B1F24"/>
                </a:solidFill>
                <a:latin typeface="Arial"/>
              </a:rPr>
              <a:t>Security &amp; 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5285232"/>
            <a:ext cx="5669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C6370"/>
                </a:solidFill>
                <a:latin typeface="Arial"/>
              </a:rPr>
              <a:t>Data encrypted in transit and at rest, hosted to international standards. Your property and tenant data stay yours.</a:t>
            </a:r>
          </a:p>
        </p:txBody>
      </p:sp>
      <p:pic>
        <p:nvPicPr>
          <p:cNvPr id="21" name="Picture 20" descr="home_2.png"/>
          <p:cNvPicPr>
            <a:picLocks noChangeAspect="1"/>
          </p:cNvPicPr>
          <p:nvPr/>
        </p:nvPicPr>
        <p:blipFill>
          <a:blip r:embed="rId2"/>
          <a:srcRect l="9286" r="9286"/>
          <a:stretch>
            <a:fillRect/>
          </a:stretch>
        </p:blipFill>
        <p:spPr>
          <a:xfrm>
            <a:off x="7882127" y="1463040"/>
            <a:ext cx="3648456" cy="4480560"/>
          </a:xfrm>
          <a:prstGeom prst="round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HostBora  ·  hostbora.co.tz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8961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C6E64"/>
                </a:solidFill>
                <a:latin typeface="Arial"/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B1F24"/>
                </a:solidFill>
                <a:latin typeface="Arial"/>
              </a:rPr>
              <a:t>Free while in early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99032"/>
            <a:ext cx="8778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C6370"/>
                </a:solidFill>
                <a:latin typeface="Arial"/>
              </a:rPr>
              <a:t>Every feature, no card, no commitment. Choose a tier when billing begins — we notify you first.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39696"/>
            <a:ext cx="3442106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395728"/>
            <a:ext cx="28568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i="0">
                <a:solidFill>
                  <a:srgbClr val="1B1F24"/>
                </a:solidFill>
                <a:latin typeface="Arial"/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743200"/>
            <a:ext cx="285689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700" b="1" i="0">
                <a:solidFill>
                  <a:srgbClr val="145C54"/>
                </a:solidFill>
                <a:latin typeface="Arial"/>
              </a:rPr>
              <a:t>19,000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163824"/>
            <a:ext cx="28568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5C6370"/>
                </a:solidFill>
                <a:latin typeface="Arial"/>
              </a:rPr>
              <a:t>TZS /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456432"/>
            <a:ext cx="28568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5C6370"/>
                </a:solidFill>
                <a:latin typeface="Arial"/>
              </a:rPr>
              <a:t>For solo hosts getting organised.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895344"/>
            <a:ext cx="285689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050" b="1">
                <a:solidFill>
                  <a:srgbClr val="1C6E64"/>
                </a:solidFill>
                <a:latin typeface="Arial"/>
              </a:rPr>
              <a:t>▪  </a:t>
            </a:r>
            <a:r>
              <a:rPr sz="1050">
                <a:solidFill>
                  <a:srgbClr val="1B1F24"/>
                </a:solidFill>
                <a:latin typeface="Arial"/>
              </a:rPr>
              <a:t>Up to 3 properties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050" b="1">
                <a:solidFill>
                  <a:srgbClr val="1C6E64"/>
                </a:solidFill>
                <a:latin typeface="Arial"/>
              </a:rPr>
              <a:t>▪  </a:t>
            </a:r>
            <a:r>
              <a:rPr sz="1050">
                <a:solidFill>
                  <a:srgbClr val="1B1F24"/>
                </a:solidFill>
                <a:latin typeface="Arial"/>
              </a:rPr>
              <a:t>BnB or Rent workspace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050" b="1">
                <a:solidFill>
                  <a:srgbClr val="1C6E64"/>
                </a:solidFill>
                <a:latin typeface="Arial"/>
              </a:rPr>
              <a:t>▪  </a:t>
            </a:r>
            <a:r>
              <a:rPr sz="1050">
                <a:solidFill>
                  <a:srgbClr val="1B1F24"/>
                </a:solidFill>
                <a:latin typeface="Arial"/>
              </a:rPr>
              <a:t>Payments, expenses, reminders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050" b="1">
                <a:solidFill>
                  <a:srgbClr val="1C6E64"/>
                </a:solidFill>
                <a:latin typeface="Arial"/>
              </a:rPr>
              <a:t>▪  </a:t>
            </a:r>
            <a:r>
              <a:rPr sz="1050">
                <a:solidFill>
                  <a:srgbClr val="1B1F24"/>
                </a:solidFill>
                <a:latin typeface="Arial"/>
              </a:rPr>
              <a:t>Basic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4794" y="2011680"/>
            <a:ext cx="3442106" cy="33284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C6E64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99580" y="1865376"/>
            <a:ext cx="1434301" cy="292608"/>
          </a:xfrm>
          <a:prstGeom prst="roundRect">
            <a:avLst>
              <a:gd name="adj" fmla="val 50000"/>
            </a:avLst>
          </a:prstGeom>
          <a:solidFill>
            <a:srgbClr val="1C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>
              <a:lnSpc>
                <a:spcPct val="122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Most popular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402" y="2267712"/>
            <a:ext cx="28568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i="0">
                <a:solidFill>
                  <a:srgbClr val="1B1F24"/>
                </a:solidFill>
                <a:latin typeface="Arial"/>
              </a:rPr>
              <a:t>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402" y="2615184"/>
            <a:ext cx="285689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700" b="1" i="0">
                <a:solidFill>
                  <a:srgbClr val="145C54"/>
                </a:solidFill>
                <a:latin typeface="Arial"/>
              </a:rPr>
              <a:t>49,000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7402" y="3035808"/>
            <a:ext cx="28568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5C6370"/>
                </a:solidFill>
                <a:latin typeface="Arial"/>
              </a:rPr>
              <a:t>TZS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7402" y="3328416"/>
            <a:ext cx="28568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5C6370"/>
                </a:solidFill>
                <a:latin typeface="Arial"/>
              </a:rPr>
              <a:t>For growing portfolios and small teams.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7402" y="3767328"/>
            <a:ext cx="285689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050" b="1">
                <a:solidFill>
                  <a:srgbClr val="1C6E64"/>
                </a:solidFill>
                <a:latin typeface="Arial"/>
              </a:rPr>
              <a:t>▪  </a:t>
            </a:r>
            <a:r>
              <a:rPr sz="1050">
                <a:solidFill>
                  <a:srgbClr val="1B1F24"/>
                </a:solidFill>
                <a:latin typeface="Arial"/>
              </a:rPr>
              <a:t>Up to 10 properties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050" b="1">
                <a:solidFill>
                  <a:srgbClr val="1C6E64"/>
                </a:solidFill>
                <a:latin typeface="Arial"/>
              </a:rPr>
              <a:t>▪  </a:t>
            </a:r>
            <a:r>
              <a:rPr sz="1050">
                <a:solidFill>
                  <a:srgbClr val="1B1F24"/>
                </a:solidFill>
                <a:latin typeface="Arial"/>
              </a:rPr>
              <a:t>Staff, tasks, calendar sync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050" b="1">
                <a:solidFill>
                  <a:srgbClr val="1C6E64"/>
                </a:solidFill>
                <a:latin typeface="Arial"/>
              </a:rPr>
              <a:t>▪  </a:t>
            </a:r>
            <a:r>
              <a:rPr sz="1050">
                <a:solidFill>
                  <a:srgbClr val="1B1F24"/>
                </a:solidFill>
                <a:latin typeface="Arial"/>
              </a:rPr>
              <a:t>Document vault, advanced reports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050" b="1">
                <a:solidFill>
                  <a:srgbClr val="1C6E64"/>
                </a:solidFill>
                <a:latin typeface="Arial"/>
              </a:rPr>
              <a:t>▪  </a:t>
            </a:r>
            <a:r>
              <a:rPr sz="1050">
                <a:solidFill>
                  <a:srgbClr val="1B1F24"/>
                </a:solidFill>
                <a:latin typeface="Arial"/>
              </a:rPr>
              <a:t>SMS / WhatsApp add-on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1220" y="2139696"/>
            <a:ext cx="3442106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190500" dist="44450" dir="5400000" algn="t" rotWithShape="0">
              <a:srgbClr val="12433D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3828" y="2395728"/>
            <a:ext cx="28568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i="0">
                <a:solidFill>
                  <a:srgbClr val="1B1F24"/>
                </a:solidFill>
                <a:latin typeface="Arial"/>
              </a:rPr>
              <a:t>Ultra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3828" y="2743200"/>
            <a:ext cx="285689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700" b="1" i="0">
                <a:solidFill>
                  <a:srgbClr val="145C54"/>
                </a:solidFill>
                <a:latin typeface="Arial"/>
              </a:rPr>
              <a:t>99,000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3828" y="3163824"/>
            <a:ext cx="28568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5C6370"/>
                </a:solidFill>
                <a:latin typeface="Arial"/>
              </a:rPr>
              <a:t>TZS /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3828" y="3456432"/>
            <a:ext cx="28568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5C6370"/>
                </a:solidFill>
                <a:latin typeface="Arial"/>
              </a:rPr>
              <a:t>For operators and managers at scale.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3828" y="3895344"/>
            <a:ext cx="285689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050" b="1">
                <a:solidFill>
                  <a:srgbClr val="1C6E64"/>
                </a:solidFill>
                <a:latin typeface="Arial"/>
              </a:rPr>
              <a:t>▪  </a:t>
            </a:r>
            <a:r>
              <a:rPr sz="1050">
                <a:solidFill>
                  <a:srgbClr val="1B1F24"/>
                </a:solidFill>
                <a:latin typeface="Arial"/>
              </a:rPr>
              <a:t>Unlimited properties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050" b="1">
                <a:solidFill>
                  <a:srgbClr val="1C6E64"/>
                </a:solidFill>
                <a:latin typeface="Arial"/>
              </a:rPr>
              <a:t>▪  </a:t>
            </a:r>
            <a:r>
              <a:rPr sz="1050">
                <a:solidFill>
                  <a:srgbClr val="1B1F24"/>
                </a:solidFill>
                <a:latin typeface="Arial"/>
              </a:rPr>
              <a:t>Smart locks and entry logs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050" b="1">
                <a:solidFill>
                  <a:srgbClr val="1C6E64"/>
                </a:solidFill>
                <a:latin typeface="Arial"/>
              </a:rPr>
              <a:t>▪  </a:t>
            </a:r>
            <a:r>
              <a:rPr sz="1050">
                <a:solidFill>
                  <a:srgbClr val="1B1F24"/>
                </a:solidFill>
                <a:latin typeface="Arial"/>
              </a:rPr>
              <a:t>AI Manager and design tools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1050" b="1">
                <a:solidFill>
                  <a:srgbClr val="1C6E64"/>
                </a:solidFill>
                <a:latin typeface="Arial"/>
              </a:rPr>
              <a:t>▪  </a:t>
            </a:r>
            <a:r>
              <a:rPr sz="1050">
                <a:solidFill>
                  <a:srgbClr val="1B1F24"/>
                </a:solidFill>
                <a:latin typeface="Arial"/>
              </a:rPr>
              <a:t>Priority support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486400"/>
            <a:ext cx="10874959" cy="7315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C6E64"/>
              </a:gs>
              <a:gs pos="100000">
                <a:srgbClr val="0D433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5" y="5586984"/>
            <a:ext cx="67665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Download free on Google Play and the App 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5586984"/>
            <a:ext cx="319399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200" b="1" i="0">
                <a:solidFill>
                  <a:srgbClr val="CFE4E0"/>
                </a:solidFill>
                <a:latin typeface="Arial"/>
              </a:rPr>
              <a:t>hostbora.co.tz  ·  WhatsApp 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HostBora  ·  hostbora.co.tz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900" b="0" i="0">
                <a:solidFill>
                  <a:srgbClr val="5C637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